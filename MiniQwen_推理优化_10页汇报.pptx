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0e568d1fc64b76" /><Relationship Type="http://schemas.openxmlformats.org/officeDocument/2006/relationships/extended-properties" Target="/docProps/app.xml" Id="R0a6fa4bb6c504fd4" /><Relationship Type="http://schemas.openxmlformats.org/officeDocument/2006/relationships/officeDocument" Target="/ppt/presentation.xml" Id="R6997f39704744a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35a32fbabf4df2"/>
  </p:sldMasterIdLst>
  <p:notesMasterIdLst>
    <p:notesMasterId xmlns:r="http://schemas.openxmlformats.org/officeDocument/2006/relationships" r:id="Rc2c64a25e95548fa"/>
  </p:notesMasterIdLst>
  <p:sldIdLst>
    <p:sldId xmlns:r="http://schemas.openxmlformats.org/officeDocument/2006/relationships" id="256" r:id="R54d01ddde6084753"/>
    <p:sldId xmlns:r="http://schemas.openxmlformats.org/officeDocument/2006/relationships" id="257" r:id="R7834d373b8f143b9"/>
    <p:sldId xmlns:r="http://schemas.openxmlformats.org/officeDocument/2006/relationships" id="258" r:id="R3b3dce568efe45e6"/>
    <p:sldId xmlns:r="http://schemas.openxmlformats.org/officeDocument/2006/relationships" id="259" r:id="Rf5e3f8750d214259"/>
    <p:sldId xmlns:r="http://schemas.openxmlformats.org/officeDocument/2006/relationships" id="260" r:id="R7f95f1c3972a4d12"/>
    <p:sldId xmlns:r="http://schemas.openxmlformats.org/officeDocument/2006/relationships" id="261" r:id="Ra45f2f14dde54e63"/>
    <p:sldId xmlns:r="http://schemas.openxmlformats.org/officeDocument/2006/relationships" id="262" r:id="R60bb5d63da73419b"/>
    <p:sldId xmlns:r="http://schemas.openxmlformats.org/officeDocument/2006/relationships" id="263" r:id="R5d6ef1413ad44081"/>
    <p:sldId xmlns:r="http://schemas.openxmlformats.org/officeDocument/2006/relationships" id="264" r:id="Rcfc191ff6d034cf2"/>
    <p:sldId xmlns:r="http://schemas.openxmlformats.org/officeDocument/2006/relationships" id="265" r:id="Rf87138ed62064a6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5d7f267fce4524" /><Relationship Type="http://schemas.openxmlformats.org/officeDocument/2006/relationships/slideMaster" Target="/ppt/slideMasters/slideMaster1.xml" Id="Ra135a32fbabf4df2" /><Relationship Type="http://schemas.openxmlformats.org/officeDocument/2006/relationships/notesMaster" Target="/ppt/notesMasters/notesMaster1.xml" Id="Rc2c64a25e95548fa" /><Relationship Type="http://schemas.openxmlformats.org/officeDocument/2006/relationships/presProps" Target="/ppt/presProps.xml" Id="R9933bdfb76cb4b41" /><Relationship Type="http://schemas.openxmlformats.org/officeDocument/2006/relationships/tableStyles" Target="/ppt/tableStyles.xml" Id="R9473b1742fd64a9e" /><Relationship Type="http://schemas.openxmlformats.org/officeDocument/2006/relationships/slide" Target="/ppt/slides/slide1.xml" Id="R54d01ddde6084753" /><Relationship Type="http://schemas.openxmlformats.org/officeDocument/2006/relationships/slide" Target="/ppt/slides/slide2.xml" Id="R7834d373b8f143b9" /><Relationship Type="http://schemas.openxmlformats.org/officeDocument/2006/relationships/slide" Target="/ppt/slides/slide3.xml" Id="R3b3dce568efe45e6" /><Relationship Type="http://schemas.openxmlformats.org/officeDocument/2006/relationships/slide" Target="/ppt/slides/slide4.xml" Id="Rf5e3f8750d214259" /><Relationship Type="http://schemas.openxmlformats.org/officeDocument/2006/relationships/slide" Target="/ppt/slides/slide5.xml" Id="R7f95f1c3972a4d12" /><Relationship Type="http://schemas.openxmlformats.org/officeDocument/2006/relationships/slide" Target="/ppt/slides/slide6.xml" Id="Ra45f2f14dde54e63" /><Relationship Type="http://schemas.openxmlformats.org/officeDocument/2006/relationships/slide" Target="/ppt/slides/slide7.xml" Id="R60bb5d63da73419b" /><Relationship Type="http://schemas.openxmlformats.org/officeDocument/2006/relationships/slide" Target="/ppt/slides/slide8.xml" Id="R5d6ef1413ad44081" /><Relationship Type="http://schemas.openxmlformats.org/officeDocument/2006/relationships/slide" Target="/ppt/slides/slide9.xml" Id="Rcfc191ff6d034cf2" /><Relationship Type="http://schemas.openxmlformats.org/officeDocument/2006/relationships/slide" Target="/ppt/slides/slide10.xml" Id="Rf87138ed62064a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44401bd70948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684811588641ce" /><Relationship Type="http://schemas.openxmlformats.org/officeDocument/2006/relationships/notesMaster" Target="/ppt/notesMasters/notesMaster1.xml" Id="R3e6904ab43e94e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2124df23ef4dca" /><Relationship Type="http://schemas.openxmlformats.org/officeDocument/2006/relationships/notesMaster" Target="/ppt/notesMasters/notesMaster1.xml" Id="R1d4c4f0a712149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fb3698629a49e6" /><Relationship Type="http://schemas.openxmlformats.org/officeDocument/2006/relationships/notesMaster" Target="/ppt/notesMasters/notesMaster1.xml" Id="R69bc62e7f2c340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ad718a5bc64fa7" /><Relationship Type="http://schemas.openxmlformats.org/officeDocument/2006/relationships/notesMaster" Target="/ppt/notesMasters/notesMaster1.xml" Id="Rd7bd73b5b6504b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90ef25bbc24005" /><Relationship Type="http://schemas.openxmlformats.org/officeDocument/2006/relationships/notesMaster" Target="/ppt/notesMasters/notesMaster1.xml" Id="Rfbe2df6d55874c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795a4afccb4916" /><Relationship Type="http://schemas.openxmlformats.org/officeDocument/2006/relationships/notesMaster" Target="/ppt/notesMasters/notesMaster1.xml" Id="R3cc50da4c18c44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4cd37788704572" /><Relationship Type="http://schemas.openxmlformats.org/officeDocument/2006/relationships/notesMaster" Target="/ppt/notesMasters/notesMaster1.xml" Id="R46f45fe79f194e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b7c4b2dd9f4bdf" /><Relationship Type="http://schemas.openxmlformats.org/officeDocument/2006/relationships/notesMaster" Target="/ppt/notesMasters/notesMaster1.xml" Id="R7f68ff3f505d49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66f2463aae400d" /><Relationship Type="http://schemas.openxmlformats.org/officeDocument/2006/relationships/notesMaster" Target="/ppt/notesMasters/notesMaster1.xml" Id="Re1f78b22f7a64c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e94ab06aae4aa3" /><Relationship Type="http://schemas.openxmlformats.org/officeDocument/2006/relationships/notesMaster" Target="/ppt/notesMasters/notesMaster1.xml" Id="R82e09ac017bc4c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bd78a0e76647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3d5335458242fa" /><Relationship Type="http://schemas.openxmlformats.org/officeDocument/2006/relationships/slideLayout" Target="/ppt/slideLayouts/slideLayout1.xml" Id="Rf7f9eff59fe044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f9eff59fe044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d34804765410c" /><Relationship Type="http://schemas.openxmlformats.org/officeDocument/2006/relationships/notesSlide" Target="/ppt/notesSlides/notesSlide1.xml" Id="Rbc49edfc2eab46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b5a17bbfa49c0" /><Relationship Type="http://schemas.openxmlformats.org/officeDocument/2006/relationships/notesSlide" Target="/ppt/notesSlides/notesSlide2.xml" Id="R126b1321bc224b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f8acab8e447c6" /><Relationship Type="http://schemas.openxmlformats.org/officeDocument/2006/relationships/notesSlide" Target="/ppt/notesSlides/notesSlide3.xml" Id="R63062d359b874f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02b1b353646b4" /><Relationship Type="http://schemas.openxmlformats.org/officeDocument/2006/relationships/notesSlide" Target="/ppt/notesSlides/notesSlide4.xml" Id="R79d469f3f10442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bf8c7a8e74b3f" /><Relationship Type="http://schemas.openxmlformats.org/officeDocument/2006/relationships/notesSlide" Target="/ppt/notesSlides/notesSlide5.xml" Id="R96cabeb8786b40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56d8354ff4c32" /><Relationship Type="http://schemas.openxmlformats.org/officeDocument/2006/relationships/notesSlide" Target="/ppt/notesSlides/notesSlide6.xml" Id="Rda0490e4c2a943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f5d1200c24936" /><Relationship Type="http://schemas.openxmlformats.org/officeDocument/2006/relationships/notesSlide" Target="/ppt/notesSlides/notesSlide7.xml" Id="R03962a287f6147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200849ac245aa" /><Relationship Type="http://schemas.openxmlformats.org/officeDocument/2006/relationships/chart" Target="/ppt/slides/charts/chart1.xml" Id="Re6f1fb9bea834678" /><Relationship Type="http://schemas.openxmlformats.org/officeDocument/2006/relationships/notesSlide" Target="/ppt/notesSlides/notesSlide8.xml" Id="R025d2774f7e847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7865b6d6c44f9" /><Relationship Type="http://schemas.openxmlformats.org/officeDocument/2006/relationships/notesSlide" Target="/ppt/notesSlides/notesSlide9.xml" Id="R419bfbb186ce44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0e589e43246d3" /><Relationship Type="http://schemas.openxmlformats.org/officeDocument/2006/relationships/chart" Target="/ppt/slides/charts/chart2.xml" Id="Rba0f482723d343bd" /><Relationship Type="http://schemas.openxmlformats.org/officeDocument/2006/relationships/notesSlide" Target="/ppt/notesSlides/notesSlide10.xml" Id="R68d1282f654a406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Score attainment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5"/>
              <c:pt idx="0">
                <c:v>Correct.</c:v>
              </c:pt>
              <c:pt idx="1">
                <c:v>Decode</c:v>
              </c:pt>
              <c:pt idx="2">
                <c:v>TTFT</c:v>
              </c:pt>
              <c:pt idx="3">
                <c:v>Serving</c:v>
              </c:pt>
              <c:pt idx="4">
                <c:v>Runtime</c:v>
              </c:pt>
            </c:strLit>
          </c:cat>
          <c:val>
            <c:numLit>
              <c:formatCode>0%</c:formatCode>
              <c:ptCount val="5"/>
              <c:pt idx="0">
                <c:v>0.95</c:v>
              </c:pt>
              <c:pt idx="1">
                <c:v>0.751</c:v>
              </c:pt>
              <c:pt idx="2">
                <c:v>0.871</c:v>
              </c:pt>
              <c:pt idx="3">
                <c:v>0.583</c:v>
              </c:pt>
              <c:pt idx="4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Current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3"/>
              <c:pt idx="0">
                <c:v>Decode best</c:v>
              </c:pt>
              <c:pt idx="1">
                <c:v>Serving</c:v>
              </c:pt>
              <c:pt idx="2">
                <c:v>Cache stress</c:v>
              </c:pt>
            </c:strLit>
          </c:cat>
          <c:val>
            <c:numLit>
              <c:formatCode>General</c:formatCode>
              <c:ptCount val="3"/>
              <c:pt idx="0">
                <c:v>59.4</c:v>
              </c:pt>
              <c:pt idx="1">
                <c:v>52.4</c:v>
              </c:pt>
              <c:pt idx="2">
                <c:v>58.9</c:v>
              </c:pt>
            </c:numLit>
          </c:val>
        </c:ser>
        <c:ser>
          <c:idx val="1"/>
          <c:order val="1"/>
          <c:tx>
            <c:v>Public baseline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Decode best</c:v>
              </c:pt>
              <c:pt idx="1">
                <c:v>Serving</c:v>
              </c:pt>
              <c:pt idx="2">
                <c:v>Cache stress</c:v>
              </c:pt>
            </c:strLit>
          </c:cat>
          <c:val>
            <c:numLit>
              <c:formatCode>General</c:formatCode>
              <c:ptCount val="3"/>
              <c:pt idx="0">
                <c:v>224.76</c:v>
              </c:pt>
              <c:pt idx="1">
                <c:v>425.93</c:v>
              </c:pt>
              <c:pt idx="2">
                <c:v>148.01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4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</a:defRPr>
            </a:pPr>
          </a:p>
        </c:txPr>
        <c:crossAx val="48650112"/>
        <c:crossBetween val="between"/>
        <c:majorUnit val="150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CD75F-9587-4375-87A6-96389906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MiniQwen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0BD20-61AF-4627-AF0E-BEEAF395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00200"/>
            <a:ext cx="7524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推理优化</a:t>
            </a:r>
          </a:p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实现报告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55009-88A2-40C7-9CF9-A604B893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7239000" cy="1080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Qwen2.5-0.5B-Instruct 手写推理引擎</a:t>
            </a:r>
          </a:p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Final Score 83.44 / 100 | 2026-07-19</a:t>
            </a:r>
          </a:p>
        </p:txBody>
      </p:sp>
      <p:sp>
        <p:nvSpPr>
          <p:cNvPr id="4" name="score-panel">
            <a:extLst xmlns:a="http://schemas.openxmlformats.org/drawingml/2006/main">
              <a:ext uri="{FF2B5EF4-FFF2-40B4-BE49-F238E27FC236}">
                <a16:creationId xmlns:a16="http://schemas.microsoft.com/office/drawing/2014/main" id="{E0FBF5B3-E3C1-4963-8245-1F26C7F4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33550"/>
            <a:ext cx="2619375" cy="1695450"/>
          </a:xfrm>
          <a:prstGeom xmlns:a="http://schemas.openxmlformats.org/drawingml/2006/main" prst="roundRect">
            <a:avLst>
              <a:gd name="adj" fmla="val 1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DC6AC-4305-45EC-8352-B01BD2D1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002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83.44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C0FA2-0798-4FF0-B072-BDACA9A6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/ 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48EDC-A2B0-4770-86DD-C7E6C064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153150"/>
            <a:ext cx="11401425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019752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E3616-F443-4DF0-9F3C-BECF663D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已有配置决定了优化边界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5EAB1-241C-4577-9CB9-5F1D5EF0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运行主路径固定为 GPU + float16 + SDPA；12G 显存约束下，当前实现实际 peak 仅约 1.35 GB。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393668" y="1857375"/>
          <a:ext xmlns:a="http://schemas.openxmlformats.org/drawingml/2006/main" cx="11404568" cy="4095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24000"/>
                <a:gridCol w="3000375"/>
                <a:gridCol w="6877050"/>
              </a:tblGrid>
              <a:tr h="51196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配置项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取值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对优化的含义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00000"/>
                          </a:solidFill>
                        </a:rPr>
                        <a:t>加速设备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00000"/>
                          </a:solidFill>
                        </a:rPr>
                        <a:t>NVIDIA RTX 2080 Ti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00000"/>
                          </a:solidFill>
                        </a:rPr>
                        <a:t>把主要算子放在 CUDA 上执行</a:t>
                      </a:r>
                    </a:p>
                  </a:txBody>
                  <a:tcPr marL="91440" marR="91440" marT="45720" marB="45720"/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00000"/>
                          </a:solidFill>
                        </a:rPr>
                        <a:t>CPU / 资源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00000"/>
                          </a:solidFill>
                        </a:rPr>
                        <a:t>4 核 / 12G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00000"/>
                          </a:solidFill>
                        </a:rPr>
                        <a:t>避免引入额外推理框架和高内存调度</a:t>
                      </a:r>
                    </a:p>
                  </a:txBody>
                  <a:tcPr marL="91440" marR="91440" marT="45720" marB="45720"/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00000"/>
                          </a:solidFill>
                        </a:rPr>
                        <a:t>推理设备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00000"/>
                          </a:solidFill>
                        </a:rPr>
                        <a:t>device=cuda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00000"/>
                          </a:solidFill>
                        </a:rPr>
                        <a:t>权重、cache 与 forward 在 GPU 主路径运行</a:t>
                      </a:r>
                    </a:p>
                  </a:txBody>
                  <a:tcPr marL="91440" marR="91440" marT="45720" marB="45720"/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00000"/>
                          </a:solidFill>
                        </a:rPr>
                        <a:t>计算精度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00000"/>
                          </a:solidFill>
                        </a:rPr>
                        <a:t>dtype=float16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00000"/>
                          </a:solidFill>
                        </a:rPr>
                        <a:t>降低显存占用并提升 GPU 吞吐</a:t>
                      </a:r>
                    </a:p>
                  </a:txBody>
                  <a:tcPr marL="91440" marR="91440" marT="45720" marB="45720"/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00000"/>
                          </a:solidFill>
                        </a:rPr>
                        <a:t>Attention 后端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00000"/>
                          </a:solidFill>
                        </a:rPr>
                        <a:t>attn_implementation=sdpa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00000"/>
                          </a:solidFill>
                        </a:rPr>
                        <a:t>优先使用 PyTorch 内置优化 kernel</a:t>
                      </a:r>
                    </a:p>
                  </a:txBody>
                  <a:tcPr marL="91440" marR="91440" marT="45720" marB="45720"/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00000"/>
                          </a:solidFill>
                        </a:rPr>
                        <a:t>模型来源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00000"/>
                          </a:solidFill>
                        </a:rPr>
                        <a:t>本地 Qwen2.5-0.5B-Instruct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00000"/>
                          </a:solidFill>
                        </a:rPr>
                        <a:t>local_files_only=True，直接读取 config 与 safetensors</a:t>
                      </a:r>
                    </a:p>
                  </a:txBody>
                  <a:tcPr marL="91440" marR="91440" marT="45720" marB="45720"/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00000"/>
                          </a:solidFill>
                        </a:rPr>
                        <a:t>禁用边界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00000"/>
                          </a:solidFill>
                        </a:rPr>
                        <a:t>不调用 AutoModel / generate / vLLM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000000"/>
                          </a:solidFill>
                        </a:rPr>
                        <a:t>必须手写 forward、decode 与调度逻辑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4DFD3-BA8F-41A9-801F-1AF2C97B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7645839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E798E-1ED5-4A1E-9B72-E68C8323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接口和文件边界先把实现收紧</a:t>
            </a:r>
          </a:p>
        </p:txBody>
      </p:sp>
      <p:sp>
        <p:nvSpPr>
          <p:cNvPr id="2" name="left-surface">
            <a:extLst xmlns:a="http://schemas.openxmlformats.org/drawingml/2006/main">
              <a:ext uri="{FF2B5EF4-FFF2-40B4-BE49-F238E27FC236}">
                <a16:creationId xmlns:a16="http://schemas.microsoft.com/office/drawing/2014/main" id="{3A122E6A-60E1-453D-9BAB-919CE095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71650"/>
            <a:ext cx="5537168" cy="3857625"/>
          </a:xfrm>
          <a:prstGeom xmlns:a="http://schemas.openxmlformats.org/drawingml/2006/main" prst="roundRect">
            <a:avLst>
              <a:gd name="adj" fmla="val 49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ight-surface">
            <a:extLst xmlns:a="http://schemas.openxmlformats.org/drawingml/2006/main">
              <a:ext uri="{FF2B5EF4-FFF2-40B4-BE49-F238E27FC236}">
                <a16:creationId xmlns:a16="http://schemas.microsoft.com/office/drawing/2014/main" id="{D0293946-F170-4267-97F3-E6130569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1771650"/>
            <a:ext cx="5537168" cy="3857625"/>
          </a:xfrm>
          <a:prstGeom xmlns:a="http://schemas.openxmlformats.org/drawingml/2006/main" prst="roundRect">
            <a:avLst>
              <a:gd name="adj" fmla="val 49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56A3D-B2CF-42E9-8C2E-6AFC5479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38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文件依据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2A288-259E-4BFD-A832-1DC67555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76500"/>
            <a:ext cx="47625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student_engine.py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推理引擎主实现：forward、KV cache、batch decode、serving 调度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utils/load_weights.py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读取 config 与 safetensors，合并 state_dict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validate_engine.py / run_inference_benchmark.py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约束检查与完整评测入口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E60D3-3F66-46DA-9FEE-B9C6A421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三类接口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48992-07B1-495B-B56B-D4080854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7625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__init__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固定 seed；加载 tokenizer、config、权重；解析 Qwen2 结构参数；预计算 RoPE inv_freq。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generate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统一进入长度感知分组，执行 greedy continuation，保持输入输出顺序一致。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serve_requests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按 max_new_tokens 分组后生成，再按原始 index 回填。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3D398-D743-49BA-9122-1678A590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00537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3BFD01-1583-40FE-B0F4-5C30051E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手写 forward 先保证 strict track 的正确性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96870-F6B2-44D5-B799-8763582D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核心路径复刻 Qwen2 decoder block；不依赖 Transformers 模型 forward。</a:t>
            </a:r>
          </a:p>
        </p:txBody>
      </p:sp>
      <p:sp>
        <p:nvSpPr>
          <p:cNvPr id="3" name="forward-step">
            <a:extLst xmlns:a="http://schemas.openxmlformats.org/drawingml/2006/main">
              <a:ext uri="{FF2B5EF4-FFF2-40B4-BE49-F238E27FC236}">
                <a16:creationId xmlns:a16="http://schemas.microsoft.com/office/drawing/2014/main" id="{09A79F73-110B-45B7-83E2-7BD49E2E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9800"/>
            <a:ext cx="1752600" cy="2857500"/>
          </a:xfrm>
          <a:prstGeom xmlns:a="http://schemas.openxmlformats.org/drawingml/2006/main" prst="roundRect">
            <a:avLst>
              <a:gd name="adj" fmla="val 108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7534A-4902-4BB2-9688-C169A04C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200A1-97F8-41E6-8044-271128D1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Token Embedding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8B340-56EC-4838-8B04-3833D27A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409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读取 embedding weight，形成 decoder 输入。</a:t>
            </a:r>
          </a:p>
        </p:txBody>
      </p:sp>
      <p:sp>
        <p:nvSpPr>
          <p:cNvPr id="7" name="forward-step">
            <a:extLst xmlns:a="http://schemas.openxmlformats.org/drawingml/2006/main">
              <a:ext uri="{FF2B5EF4-FFF2-40B4-BE49-F238E27FC236}">
                <a16:creationId xmlns:a16="http://schemas.microsoft.com/office/drawing/2014/main" id="{7B7A7E06-98AA-4BE8-B1EC-FBA77EF8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09800"/>
            <a:ext cx="1752600" cy="2857500"/>
          </a:xfrm>
          <a:prstGeom xmlns:a="http://schemas.openxmlformats.org/drawingml/2006/main" prst="roundRect">
            <a:avLst>
              <a:gd name="adj" fmla="val 1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5CA99-B89C-4A1D-A069-FD71D4FA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193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0E808-241B-47C7-8286-EBE12237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52750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RMSNorm + RoPE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37865-BCBE-4F1E-84D0-1C2107FB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90950"/>
            <a:ext cx="1409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按当前位置生成 cos / sin，并旋转 Q/K。</a:t>
            </a:r>
          </a:p>
        </p:txBody>
      </p:sp>
      <p:sp>
        <p:nvSpPr>
          <p:cNvPr id="11" name="forward-step">
            <a:extLst xmlns:a="http://schemas.openxmlformats.org/drawingml/2006/main">
              <a:ext uri="{FF2B5EF4-FFF2-40B4-BE49-F238E27FC236}">
                <a16:creationId xmlns:a16="http://schemas.microsoft.com/office/drawing/2014/main" id="{3AE341EB-572B-460F-9162-FD7B2324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09800"/>
            <a:ext cx="1752600" cy="2857500"/>
          </a:xfrm>
          <a:prstGeom xmlns:a="http://schemas.openxmlformats.org/drawingml/2006/main" prst="roundRect">
            <a:avLst>
              <a:gd name="adj" fmla="val 108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1F5BE-2CC4-4F3A-B9A4-643B83A0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193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35E6A-514A-41E7-9BA5-D0EA2579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52750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Q/K/V Projection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85173-3A6F-435A-8C39-1A09372A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90950"/>
            <a:ext cx="1409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按 GQA 结构 reshape heads 与 KV heads。</a:t>
            </a:r>
          </a:p>
        </p:txBody>
      </p:sp>
      <p:sp>
        <p:nvSpPr>
          <p:cNvPr id="15" name="forward-step">
            <a:extLst xmlns:a="http://schemas.openxmlformats.org/drawingml/2006/main">
              <a:ext uri="{FF2B5EF4-FFF2-40B4-BE49-F238E27FC236}">
                <a16:creationId xmlns:a16="http://schemas.microsoft.com/office/drawing/2014/main" id="{F104A22A-C433-44B0-8BDD-D5D2BE01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09800"/>
            <a:ext cx="1752600" cy="2857500"/>
          </a:xfrm>
          <a:prstGeom xmlns:a="http://schemas.openxmlformats.org/drawingml/2006/main" prst="roundRect">
            <a:avLst>
              <a:gd name="adj" fmla="val 1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309F1B-8811-4BEE-97EC-0517E128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193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00FD24-3BDA-49BA-99F6-2356424E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52750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SDPA Attention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3A02D9-4968-4ED4-B65B-076E5C19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90950"/>
            <a:ext cx="1409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prefill 使用 causal attention，decode 读取 cache。</a:t>
            </a:r>
          </a:p>
        </p:txBody>
      </p:sp>
      <p:sp>
        <p:nvSpPr>
          <p:cNvPr id="19" name="forward-step">
            <a:extLst xmlns:a="http://schemas.openxmlformats.org/drawingml/2006/main">
              <a:ext uri="{FF2B5EF4-FFF2-40B4-BE49-F238E27FC236}">
                <a16:creationId xmlns:a16="http://schemas.microsoft.com/office/drawing/2014/main" id="{E038E15F-AD7A-4D4E-B333-16810225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1752600" cy="2857500"/>
          </a:xfrm>
          <a:prstGeom xmlns:a="http://schemas.openxmlformats.org/drawingml/2006/main" prst="roundRect">
            <a:avLst>
              <a:gd name="adj" fmla="val 108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2CF22-5AF8-42F3-BA8B-B65188DB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193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4CADE2-F1D2-4B11-8A1D-63A0202F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52750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SwiGLU MLP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267FC1-6881-4199-B1E0-1A8E28BC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90950"/>
            <a:ext cx="1409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silu(gate) * up，再经 down_proj 回到 residual。</a:t>
            </a:r>
          </a:p>
        </p:txBody>
      </p:sp>
      <p:sp>
        <p:nvSpPr>
          <p:cNvPr id="23" name="forward-step">
            <a:extLst xmlns:a="http://schemas.openxmlformats.org/drawingml/2006/main">
              <a:ext uri="{FF2B5EF4-FFF2-40B4-BE49-F238E27FC236}">
                <a16:creationId xmlns:a16="http://schemas.microsoft.com/office/drawing/2014/main" id="{3A24F484-6DC5-4DDE-AAC9-02892439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09800"/>
            <a:ext cx="1752600" cy="2857500"/>
          </a:xfrm>
          <a:prstGeom xmlns:a="http://schemas.openxmlformats.org/drawingml/2006/main" prst="roundRect">
            <a:avLst>
              <a:gd name="adj" fmla="val 1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B294FF-EA6C-47C9-9FDB-A0BAFE89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193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9B396F-A165-4261-A0ED-C3EEAD69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52750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Tied LM Head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0E5AE3-2DFC-4940-8373-5971BD97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90950"/>
            <a:ext cx="1409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final RMSNorm 后复用 embedding weight，argmax 取 token。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72905A-4178-45D5-B890-7DF591F2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结果：输出只包含 continuation，不做采样；max_new_tokens &lt;= 0 时返回空 continuation。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AEC516-8427-450E-BE88-6274A749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883731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A482EF-4C18-4285-902A-4D223769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KV cache 把 decode 改成增量写入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1E5FF-FA4C-48DC-BB93-A0C21152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10668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919CA-6167-4D16-A0BE-91295C41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845E5-96CE-41F2-B4DD-7402176C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09800"/>
            <a:ext cx="2390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Prefill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D0665-6114-4C89-8C4B-D361D7E4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09850"/>
            <a:ext cx="2390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完整 prompt 一次 forward，保留每层 K/V。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44403-6697-4780-9FED-067FEE7C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BEFA3-EFC8-43F4-8984-ECC7DF81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09800"/>
            <a:ext cx="2390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Reserve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4771A-EFF5-4BB3-B0C4-1A35283C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09850"/>
            <a:ext cx="2390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_reserve_cache 预分配 prompt + max_new_tokens 容量。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4499A-E198-439B-BF89-CB910AC3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098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B62CF-1EA7-47FC-9218-0FAC4DE3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09800"/>
            <a:ext cx="2390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EB4D0-7A76-43D5-9684-4F1AB6FA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09850"/>
            <a:ext cx="2390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每步只输入上一个 token，把新 K/V 原地写入 cache。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775D8-6A75-4B6D-B084-BD57997D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批量 cache 形状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4BF1F-A904-415C-B104-08360DC1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D8DFF"/>
                </a:solidFill>
                <a:latin typeface="SF Mono"/>
                <a:ea typeface="SF Mono"/>
                <a:cs typeface="SF Mono"/>
              </a:defRPr>
            </a:pPr>
            <a:r>
              <a:rPr sz="1800" b="0">
                <a:solidFill>
                  <a:srgbClr val="3D8DFF"/>
                </a:solidFill>
                <a:latin typeface="SF Mono"/>
                <a:ea typeface="SF Mono"/>
                <a:cs typeface="SF Mono"/>
              </a:rPr>
              <a:t>[batch, num_kv_heads, total_capacity, head_dim]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CC7894-4A47-4BEC-928D-C0D44219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valid_lengths mask 会屏蔽 padding 与未写入区域，保证变长 batch 的 attention 正确性。</a:t>
            </a:r>
          </a:p>
        </p:txBody>
      </p:sp>
      <p:sp>
        <p:nvSpPr>
          <p:cNvPr id="15" name="metric-card">
            <a:extLst xmlns:a="http://schemas.openxmlformats.org/drawingml/2006/main">
              <a:ext uri="{FF2B5EF4-FFF2-40B4-BE49-F238E27FC236}">
                <a16:creationId xmlns:a16="http://schemas.microsoft.com/office/drawing/2014/main" id="{275187C9-E753-467A-B965-CF9B3A20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1714500" cy="1381125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4BE074-C6FC-4FE0-AA83-E82D8C78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67200"/>
            <a:ext cx="1219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0.00 MB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30240B-0F57-4A92-BD20-7CAA7C2E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9110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cache growth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81F7A4-A1AE-475D-99F9-4A104740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372100"/>
            <a:ext cx="1219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每 100 tokens 动态增长</a:t>
            </a:r>
          </a:p>
        </p:txBody>
      </p:sp>
      <p:sp>
        <p:nvSpPr>
          <p:cNvPr id="19" name="metric-card">
            <a:extLst xmlns:a="http://schemas.openxmlformats.org/drawingml/2006/main">
              <a:ext uri="{FF2B5EF4-FFF2-40B4-BE49-F238E27FC236}">
                <a16:creationId xmlns:a16="http://schemas.microsoft.com/office/drawing/2014/main" id="{665334D9-6BC2-46B4-B2D3-898FDABD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0500"/>
            <a:ext cx="1714500" cy="1381125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4E9C30-266E-4C82-8BBF-90A249EC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67200"/>
            <a:ext cx="1219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1.35 GB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7A88B9-9F26-4052-80A2-EF01A782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9110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final peak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1E2FA7-7A43-4B39-B10C-BC526DE7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72100"/>
            <a:ext cx="1219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全流程最高显存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81282E-F7FD-4548-AAEB-B286DF65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011007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CBE92-9B97-41C6-AD9D-A4725D91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Batch 与 serving 优化围绕少 padding、少空转</a:t>
            </a:r>
          </a:p>
        </p:txBody>
      </p:sp>
      <p:sp>
        <p:nvSpPr>
          <p:cNvPr id="2" name="batch-card">
            <a:extLst xmlns:a="http://schemas.openxmlformats.org/drawingml/2006/main">
              <a:ext uri="{FF2B5EF4-FFF2-40B4-BE49-F238E27FC236}">
                <a16:creationId xmlns:a16="http://schemas.microsoft.com/office/drawing/2014/main" id="{42249339-7831-444C-A873-A3A14AA7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0"/>
            <a:ext cx="5537168" cy="1643063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2BFE8-7F85-4630-8CB5-1D8A9CF5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68" y="2228850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长度感知 batching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51B5B-5BAA-4A5C-9B18-352E2948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68" y="26860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先 token 化并按 prompt 长度排序；组内最长 / 最短比例阈值为 1.6。</a:t>
            </a:r>
          </a:p>
        </p:txBody>
      </p:sp>
      <p:sp>
        <p:nvSpPr>
          <p:cNvPr id="5" name="batch-card">
            <a:extLst xmlns:a="http://schemas.openxmlformats.org/drawingml/2006/main">
              <a:ext uri="{FF2B5EF4-FFF2-40B4-BE49-F238E27FC236}">
                <a16:creationId xmlns:a16="http://schemas.microsoft.com/office/drawing/2014/main" id="{61D54F9D-4B97-4D13-A836-E702213C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000250"/>
            <a:ext cx="5537168" cy="1643063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60065-82B7-4CE5-AEC9-ABF0D305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769" y="2228850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单样本 prefill + 批量 decode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7FE8B-708E-4549-B5CC-F3945558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769" y="26860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prefill 避免不同长度 prompt padding；decode 合并 cache 后批量推进。</a:t>
            </a:r>
          </a:p>
        </p:txBody>
      </p:sp>
      <p:sp>
        <p:nvSpPr>
          <p:cNvPr id="8" name="batch-card">
            <a:extLst xmlns:a="http://schemas.openxmlformats.org/drawingml/2006/main">
              <a:ext uri="{FF2B5EF4-FFF2-40B4-BE49-F238E27FC236}">
                <a16:creationId xmlns:a16="http://schemas.microsoft.com/office/drawing/2014/main" id="{4DAF8813-8692-4066-998D-D6454283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0025"/>
            <a:ext cx="5537168" cy="1643063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011B8-16F0-4C74-8A45-93C6AF29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68" y="4238625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有效长度 mask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A6E49-A738-44A9-921F-23F85412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68" y="4695825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_batch_decode_attention 只读每个样本已写入的有效 cache。</a:t>
            </a:r>
          </a:p>
        </p:txBody>
      </p:sp>
      <p:sp>
        <p:nvSpPr>
          <p:cNvPr id="11" name="batch-card">
            <a:extLst xmlns:a="http://schemas.openxmlformats.org/drawingml/2006/main">
              <a:ext uri="{FF2B5EF4-FFF2-40B4-BE49-F238E27FC236}">
                <a16:creationId xmlns:a16="http://schemas.microsoft.com/office/drawing/2014/main" id="{D140E0A6-FBA5-4139-9F62-AB21C605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4010025"/>
            <a:ext cx="5537168" cy="1643063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B5158-9DD6-4E34-A364-E8AC48E8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769" y="4238625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Serving 分组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70BEB-6F0F-4A5D-A88B-CDA9A177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769" y="4695825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serve_requests 按 max_new_tokens 一级分组，减少同批 decode 步数不一致。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090CA-4C2C-4082-A7A3-2BB226AB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当前策略已经可用且保持输出顺序；短板是还没有动态接入 arrival_time_ms 的 continuous batching。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93EE6-67AB-4CEE-A309-60E00FBD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04959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043AC-B7BF-4091-8DD2-44F92C9C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优化点总览：收益集中在正确性、首 token 和内存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393668" y="1524000"/>
          <a:ext xmlns:a="http://schemas.openxmlformats.org/drawingml/2006/main" cx="11404568" cy="4476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00250"/>
                <a:gridCol w="4762500"/>
                <a:gridCol w="4638675"/>
              </a:tblGrid>
              <a:tr h="497417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优化点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实现方式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直接收益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497417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手写 Qwen2 forward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RMSNorm、RoPE、GQA、Attention、MLP、LM Head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满足 strict track，避免禁用 API</a:t>
                      </a:r>
                    </a:p>
                  </a:txBody>
                  <a:tcPr marL="91440" marR="91440" marT="45720" marB="45720"/>
                </a:tc>
              </a:tr>
              <a:tr h="497417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SDPA Attention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attn_implementation=sdpa 时调用 PyTorch SDPA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借用内置 attention kernel</a:t>
                      </a:r>
                    </a:p>
                  </a:txBody>
                  <a:tcPr marL="91440" marR="91440" marT="45720" marB="45720"/>
                </a:tc>
              </a:tr>
              <a:tr h="497417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Greedy Decode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LM head 后直接 argmax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输出确定，无采样开销</a:t>
                      </a:r>
                    </a:p>
                  </a:txBody>
                  <a:tcPr marL="91440" marR="91440" marT="45720" marB="45720"/>
                </a:tc>
              </a:tr>
              <a:tr h="497417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KV Cache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每层保存 K/V，decode 只计算新 token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减少历史 token 重算</a:t>
                      </a:r>
                    </a:p>
                  </a:txBody>
                  <a:tcPr marL="91440" marR="91440" marT="45720" marB="45720"/>
                </a:tc>
              </a:tr>
              <a:tr h="497417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Cache 预分配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提前申请 prompt_length + max_new_tokens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降低 torch.cat、拷贝和扩容成本</a:t>
                      </a:r>
                    </a:p>
                  </a:txBody>
                  <a:tcPr marL="91440" marR="91440" marT="45720" marB="45720"/>
                </a:tc>
              </a:tr>
              <a:tr h="497417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批量 Decode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合并 cache 后按 batch 推进一步 token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提升 decode throughput</a:t>
                      </a:r>
                    </a:p>
                  </a:txBody>
                  <a:tcPr marL="91440" marR="91440" marT="45720" marB="45720"/>
                </a:tc>
              </a:tr>
              <a:tr h="497417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长度感知分组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按 token 长度排序，限制组内长度比例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减少 padding 浪费与尾延迟放大</a:t>
                      </a:r>
                    </a:p>
                  </a:txBody>
                  <a:tcPr marL="91440" marR="91440" marT="45720" marB="45720"/>
                </a:tc>
              </a:tr>
              <a:tr h="497417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Serving 分组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按 max_new_tokens 合并请求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减少同批固定步数空转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D33EC-3CB0-4498-8033-6635FCB5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393698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94D739-E117-40DB-A6DC-730E5904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最终得分 83.44 / 100，质量和稳定性贡献最大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71500" y="1695450"/>
          <a:ext xmlns:a="http://schemas.openxmlformats.org/drawingml/2006/main" cx="64293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f1fb9bea834678"/>
          </a:graphicData>
        </a:graphic>
      </p:graphicFrame>
      <p:sp>
        <p:nvSpPr>
          <p:cNvPr id="3" name="metric-card">
            <a:extLst xmlns:a="http://schemas.openxmlformats.org/drawingml/2006/main">
              <a:ext uri="{FF2B5EF4-FFF2-40B4-BE49-F238E27FC236}">
                <a16:creationId xmlns:a16="http://schemas.microsoft.com/office/drawing/2014/main" id="{409F96B8-5605-4916-A3AD-D4C8006C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38300"/>
            <a:ext cx="1952625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F4F2B-E5DF-437D-9B1B-2FEAAA02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905000"/>
            <a:ext cx="1457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28.50/30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805D8-1699-48BB-A7B1-217210C8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628900"/>
            <a:ext cx="1457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Long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1E350-CFDB-4E6D-BB6B-37FE1A59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009900"/>
            <a:ext cx="1457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partial=0.950 exact=0.933</a:t>
            </a:r>
          </a:p>
        </p:txBody>
      </p:sp>
      <p:sp>
        <p:nvSpPr>
          <p:cNvPr id="7" name="metric-card">
            <a:extLst xmlns:a="http://schemas.openxmlformats.org/drawingml/2006/main">
              <a:ext uri="{FF2B5EF4-FFF2-40B4-BE49-F238E27FC236}">
                <a16:creationId xmlns:a16="http://schemas.microsoft.com/office/drawing/2014/main" id="{E419D15C-06DB-4706-A5B8-C0D0B57B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638300"/>
            <a:ext cx="1952625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C4118-C8E9-4677-BE1E-63386400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905000"/>
            <a:ext cx="1457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17.41/20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876C5-4E95-4AAD-A6AD-73DF7028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628900"/>
            <a:ext cx="1457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TTFT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9A186-DD6D-4175-ACDA-76E8FBA2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009900"/>
            <a:ext cx="1457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avg=0.079s p95=0.231s</a:t>
            </a:r>
          </a:p>
        </p:txBody>
      </p:sp>
      <p:sp>
        <p:nvSpPr>
          <p:cNvPr id="11" name="metric-card">
            <a:extLst xmlns:a="http://schemas.openxmlformats.org/drawingml/2006/main">
              <a:ext uri="{FF2B5EF4-FFF2-40B4-BE49-F238E27FC236}">
                <a16:creationId xmlns:a16="http://schemas.microsoft.com/office/drawing/2014/main" id="{F96925E3-1302-4A8C-A94C-2C47DDAE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29000"/>
            <a:ext cx="1952625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C2338-71A9-442B-B001-891260C9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695700"/>
            <a:ext cx="1457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10/10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69350-803B-4E9F-8381-B9A75605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419600"/>
            <a:ext cx="1457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Robustness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41092A-7773-42C8-901C-032707D4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800600"/>
            <a:ext cx="1457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runtime=1.000 valid=0.958</a:t>
            </a:r>
          </a:p>
        </p:txBody>
      </p:sp>
      <p:sp>
        <p:nvSpPr>
          <p:cNvPr id="15" name="metric-card">
            <a:extLst xmlns:a="http://schemas.openxmlformats.org/drawingml/2006/main">
              <a:ext uri="{FF2B5EF4-FFF2-40B4-BE49-F238E27FC236}">
                <a16:creationId xmlns:a16="http://schemas.microsoft.com/office/drawing/2014/main" id="{DF634B5B-BBEB-4DE2-9CE8-E8E92AAB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429000"/>
            <a:ext cx="1952625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CA231-08E2-4E62-874F-B278E552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695700"/>
            <a:ext cx="1457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6EF54-96FB-4A12-9CCD-57294313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419600"/>
            <a:ext cx="1457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Realism Guard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9432A-C585-49C5-85C9-DB99A07A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800600"/>
            <a:ext cx="1457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raw 与 before_cap 均为 83.44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C9A823-170E-42AD-89A9-45D47A3B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219700"/>
            <a:ext cx="414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Serving 得分 8.75 / 15，是总分里最明显的后续提升空间。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00FBA0-142C-45D9-9E09-7D652834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580225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4E097-C281-487C-8A28-81740D4D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Suite 结果显示内存很稳，瓶颈转向 serving p95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393668" y="1504950"/>
          <a:ext xmlns:a="http://schemas.openxmlformats.org/drawingml/2006/main" cx="11404568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2190750"/>
                <a:gridCol w="2952750"/>
                <a:gridCol w="2095500"/>
                <a:gridCol w="2066925"/>
              </a:tblGrid>
              <a:tr h="489857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Suite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规模 / 有效率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TPS / Latency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Batch 信息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Peak 显存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long_context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15 cases / 0.933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45.3 TPS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batch_size=1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1169 MB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decode_throughput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12 cases x 3 / 1.000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58.5 TPS, best 59.4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best_bs=1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977 MB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ttft_prefill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8 cases / 1.000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avg 0.079s, p95 0.231s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best_bs=1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1346 MB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serving_schedule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12 requests / 0.917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52.4 TPS, p95 19.979s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best_bs=12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1348 MB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mixed_serving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12 cases x 2 / 0.917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49.0 TPS, best 49.3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best_bs=1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1276 MB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cache_stress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4 x 2 x 3 / 0.917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58.9 TPS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primary_bs=4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000000"/>
                          </a:solidFill>
                        </a:rPr>
                        <a:t>1052 MB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D7156-5965-4368-83C7-C5B36B71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最高 peak / 12G</a:t>
            </a:r>
          </a:p>
        </p:txBody>
      </p:sp>
      <p:sp>
        <p:nvSpPr>
          <p:cNvPr id="4" name="bar-bg">
            <a:extLst xmlns:a="http://schemas.openxmlformats.org/drawingml/2006/main">
              <a:ext uri="{FF2B5EF4-FFF2-40B4-BE49-F238E27FC236}">
                <a16:creationId xmlns:a16="http://schemas.microsoft.com/office/drawing/2014/main" id="{246E33C5-6EF7-4434-844C-283E131F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410200"/>
            <a:ext cx="3048000" cy="142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ar-fill">
            <a:extLst xmlns:a="http://schemas.openxmlformats.org/drawingml/2006/main">
              <a:ext uri="{FF2B5EF4-FFF2-40B4-BE49-F238E27FC236}">
                <a16:creationId xmlns:a16="http://schemas.microsoft.com/office/drawing/2014/main" id="{B7523C2D-F924-4AA5-A85A-174657B7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410200"/>
            <a:ext cx="334367" cy="142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7FEEE-1B49-4D70-B862-A84A6AC3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36257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C0AAA-8456-4812-BE1E-A67AC089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serving 得分</a:t>
            </a:r>
          </a:p>
        </p:txBody>
      </p:sp>
      <p:sp>
        <p:nvSpPr>
          <p:cNvPr id="8" name="bar-bg">
            <a:extLst xmlns:a="http://schemas.openxmlformats.org/drawingml/2006/main">
              <a:ext uri="{FF2B5EF4-FFF2-40B4-BE49-F238E27FC236}">
                <a16:creationId xmlns:a16="http://schemas.microsoft.com/office/drawing/2014/main" id="{2DAE56C7-1CFE-46A2-A16E-87D20BD6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800725"/>
            <a:ext cx="3048000" cy="142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ar-fill">
            <a:extLst xmlns:a="http://schemas.openxmlformats.org/drawingml/2006/main">
              <a:ext uri="{FF2B5EF4-FFF2-40B4-BE49-F238E27FC236}">
                <a16:creationId xmlns:a16="http://schemas.microsoft.com/office/drawing/2014/main" id="{68137D62-53F6-4A94-97B5-EEB3C141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800725"/>
            <a:ext cx="1778000" cy="142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EDB5F-45E0-4734-A205-2DEB940A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7531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0D87B-275B-44AA-9A4C-D5EA2F30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530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显存余量充足，说明下一轮可以用更多缓存与 batch 策略换吞吐；尾延迟是主要问题。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2069D-2E0F-4F72-8DD0-7B7E5C73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031255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3F1AE-6742-4BA1-AC5E-2C768487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与 baseline 的差距定义了下一轮方向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14350" y="1619250"/>
          <a:ext xmlns:a="http://schemas.openxmlformats.org/drawingml/2006/main" cx="5381625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0f482723d343bd"/>
          </a:graphicData>
        </a:graphic>
      </p:graphicFrame>
      <p:sp>
        <p:nvSpPr>
          <p:cNvPr id="3" name="next-panel">
            <a:extLst xmlns:a="http://schemas.openxmlformats.org/drawingml/2006/main">
              <a:ext uri="{FF2B5EF4-FFF2-40B4-BE49-F238E27FC236}">
                <a16:creationId xmlns:a16="http://schemas.microsoft.com/office/drawing/2014/main" id="{7684B7AD-447A-4F6F-8D51-39E0EE28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81150"/>
            <a:ext cx="4953000" cy="3810000"/>
          </a:xfrm>
          <a:prstGeom xmlns:a="http://schemas.openxmlformats.org/drawingml/2006/main" prst="roundRect">
            <a:avLst>
              <a:gd name="adj" fmla="val 5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9869E-9564-4D33-AB0C-E7537D93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85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优先级建议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50894-B8A3-4026-AC30-58005CBE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40957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99416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实现真正 continuous batching，按 arrival_time_ms 动态接入请求。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3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引入 prefix reuse，缓存共享 system prompt 与模板前缀 KV。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3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优化 prefill：同长度组内 batch prefill，必要时 chunked prefill。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3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4. 减少 _repeat_kv 物理扩展，探索更适配 GQA 的 attention 写法。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3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5. 在 12G 预算内升级 cache 管理和 CUDA 专用路径。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AE4B8-28C2-42D2-BB2F-E2054F7E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结论：当前版本已经完成 strict inference-engine 的核心能力；下一轮要把“可用的 batch”推进到“持续调度的 batch”。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2060B-5DD1-4FFB-882B-1E22F242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90138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2026-07-19T01:01:54.9980000Z</dcterms:created>
  <dcterms:modified xsi:type="dcterms:W3CDTF">2026-07-19T01:01:54.9980000Z</dcterms:modified>
</coreProperties>
</file>